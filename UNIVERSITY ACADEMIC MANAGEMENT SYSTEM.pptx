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F14F61B-95C9-4E8A-A342-F34125A3F70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14D0FC-7F95-48B0-8EBE-71C3B79C9D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F14F61B-95C9-4E8A-A342-F34125A3F70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14D0FC-7F95-48B0-8EBE-71C3B79C9D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F14F61B-95C9-4E8A-A342-F34125A3F70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10486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14D0FC-7F95-48B0-8EBE-71C3B79C9D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8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9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F14F61B-95C9-4E8A-A342-F34125A3F70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10486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14D0FC-7F95-48B0-8EBE-71C3B79C9D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4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5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F14F61B-95C9-4E8A-A342-F34125A3F70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104864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14D0FC-7F95-48B0-8EBE-71C3B79C9D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F14F61B-95C9-4E8A-A342-F34125A3F70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104861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14D0FC-7F95-48B0-8EBE-71C3B79C9D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F14F61B-95C9-4E8A-A342-F34125A3F70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104860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14D0FC-7F95-48B0-8EBE-71C3B79C9D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52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F14F61B-95C9-4E8A-A342-F34125A3F70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10486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14D0FC-7F95-48B0-8EBE-71C3B79C9D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2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2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F14F61B-95C9-4E8A-A342-F34125A3F70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104862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2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14D0FC-7F95-48B0-8EBE-71C3B79C9D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F14F61B-95C9-4E8A-A342-F34125A3F70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10486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14D0FC-7F95-48B0-8EBE-71C3B79C9D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F14F61B-95C9-4E8A-A342-F34125A3F70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10486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14D0FC-7F95-48B0-8EBE-71C3B79C9DF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4F61B-95C9-4E8A-A342-F34125A3F70E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4D0FC-7F95-48B0-8EBE-71C3B79C9DF1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85522" cy="6858000"/>
          </a:xfrm>
          <a:prstGeom prst="rect"/>
        </p:spPr>
      </p:pic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326140" y="491269"/>
            <a:ext cx="11533239" cy="729593"/>
          </a:xfrm>
        </p:spPr>
        <p:txBody>
          <a:bodyPr>
            <a:normAutofit fontScale="100000"/>
          </a:bodyPr>
          <a:p>
            <a:r>
              <a:rPr b="1" dirty="0" sz="4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UNIVERSITY ACADEMIC MANAGEMENT SYSTEM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1219201" y="1263448"/>
            <a:ext cx="9144000" cy="596336"/>
          </a:xfrm>
        </p:spPr>
        <p:txBody>
          <a:bodyPr/>
          <a:p>
            <a:r>
              <a:rPr dirty="0" lang="en-IN"/>
              <a:t>A Database Management System Project</a:t>
            </a:r>
          </a:p>
        </p:txBody>
      </p:sp>
      <p:sp>
        <p:nvSpPr>
          <p:cNvPr id="1048588" name="TextBox 6"/>
          <p:cNvSpPr txBox="1"/>
          <p:nvPr/>
        </p:nvSpPr>
        <p:spPr>
          <a:xfrm>
            <a:off x="4519082" y="2093670"/>
            <a:ext cx="3417227" cy="1615441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b="1" dirty="0" sz="2000" lang="en-IN"/>
              <a:t>          Preseed By:</a:t>
            </a:r>
            <a:endParaRPr dirty="0" sz="2000" lang="en-IN"/>
          </a:p>
          <a:p>
            <a:pPr indent="-342900" lvl="0" marL="342900">
              <a:buFont typeface="Wingdings" panose="05000000000000000000" pitchFamily="2" charset="2"/>
              <a:buChar char="§"/>
            </a:pPr>
            <a:r>
              <a:rPr dirty="0" sz="2000" lang="en-IN"/>
              <a:t>  </a:t>
            </a:r>
            <a:r>
              <a:rPr altLang="en-IN" dirty="0" sz="2000" lang="en-US"/>
              <a:t>T.H</a:t>
            </a:r>
            <a:r>
              <a:rPr altLang="en-IN" dirty="0" sz="2000" lang="en-US"/>
              <a:t>a</a:t>
            </a:r>
            <a:r>
              <a:rPr altLang="en-IN" dirty="0" sz="2000" lang="en-US"/>
              <a:t>rideep</a:t>
            </a:r>
            <a:r>
              <a:rPr altLang="en-IN" dirty="0" sz="2000" lang="en-US"/>
              <a:t> </a:t>
            </a:r>
            <a:r>
              <a:rPr altLang="en-IN" dirty="0" sz="2000" lang="en-US"/>
              <a:t>R</a:t>
            </a:r>
            <a:r>
              <a:rPr altLang="en-IN" dirty="0" sz="2000" lang="en-US"/>
              <a:t>a</a:t>
            </a:r>
            <a:r>
              <a:rPr altLang="en-IN" dirty="0" sz="2000" lang="en-US"/>
              <a:t>j</a:t>
            </a:r>
            <a:r>
              <a:rPr altLang="en-IN" dirty="0" sz="2000" lang="en-US"/>
              <a:t>u</a:t>
            </a:r>
            <a:r>
              <a:rPr dirty="0" sz="2000" lang="en-IN"/>
              <a:t>                   </a:t>
            </a:r>
            <a:endParaRPr altLang="en-US" lang="zh-CN"/>
          </a:p>
          <a:p>
            <a:pPr indent="-342900" lvl="0" marL="342900">
              <a:buFont typeface="Wingdings" panose="05000000000000000000" pitchFamily="2" charset="2"/>
              <a:buChar char="§"/>
            </a:pPr>
            <a:r>
              <a:rPr altLang="en-IN" dirty="0" sz="2000" lang="en-US"/>
              <a:t> </a:t>
            </a:r>
            <a:r>
              <a:rPr altLang="en-IN" dirty="0" sz="2000" lang="en-US"/>
              <a:t> </a:t>
            </a:r>
            <a:r>
              <a:rPr altLang="en-IN" dirty="0" sz="2000" lang="en-US"/>
              <a:t>P.</a:t>
            </a:r>
            <a:r>
              <a:rPr altLang="en-IN" dirty="0" sz="2000" lang="en-US"/>
              <a:t>S</a:t>
            </a:r>
            <a:r>
              <a:rPr altLang="en-IN" dirty="0" sz="2000" lang="en-US"/>
              <a:t>a</a:t>
            </a:r>
            <a:r>
              <a:rPr altLang="en-IN" dirty="0" sz="2000" lang="en-US"/>
              <a:t>i</a:t>
            </a:r>
            <a:r>
              <a:rPr altLang="en-IN" dirty="0" sz="2000" lang="en-US"/>
              <a:t> </a:t>
            </a:r>
            <a:r>
              <a:rPr altLang="en-IN" dirty="0" sz="2000" lang="en-US"/>
              <a:t>C</a:t>
            </a:r>
            <a:r>
              <a:rPr altLang="en-IN" dirty="0" sz="2000" lang="en-US"/>
              <a:t>h</a:t>
            </a:r>
            <a:r>
              <a:rPr altLang="en-IN" dirty="0" sz="2000" lang="en-US"/>
              <a:t>a</a:t>
            </a:r>
            <a:r>
              <a:rPr altLang="en-IN" dirty="0" sz="2000" lang="en-US"/>
              <a:t>r</a:t>
            </a:r>
            <a:r>
              <a:rPr altLang="en-IN" dirty="0" sz="2000" lang="en-US"/>
              <a:t>a</a:t>
            </a:r>
            <a:r>
              <a:rPr altLang="en-IN" dirty="0" sz="2000" lang="en-US"/>
              <a:t>n</a:t>
            </a:r>
            <a:r>
              <a:rPr dirty="0" sz="2000" lang="en-IN"/>
              <a:t> </a:t>
            </a:r>
            <a:endParaRPr altLang="en-US" lang="zh-CN"/>
          </a:p>
          <a:p>
            <a:pPr indent="-342900" lvl="0" marL="342900">
              <a:buFont typeface="Wingdings" panose="05000000000000000000" pitchFamily="2" charset="2"/>
              <a:buChar char="§"/>
            </a:pPr>
            <a:r>
              <a:rPr dirty="0" sz="2000" lang="en-IN"/>
              <a:t>  </a:t>
            </a:r>
            <a:r>
              <a:rPr altLang="en-IN" dirty="0" sz="2000" lang="en-US" err="1"/>
              <a:t>R.Srin</a:t>
            </a:r>
            <a:r>
              <a:rPr altLang="en-IN" dirty="0" sz="2000" lang="en-US" err="1"/>
              <a:t>i</a:t>
            </a:r>
            <a:r>
              <a:rPr altLang="en-IN" dirty="0" sz="2000" lang="en-US" err="1"/>
              <a:t>v</a:t>
            </a:r>
            <a:r>
              <a:rPr altLang="en-IN" dirty="0" sz="2000" lang="en-US" err="1"/>
              <a:t>a</a:t>
            </a:r>
            <a:r>
              <a:rPr altLang="en-IN" dirty="0" sz="2000" lang="en-US" err="1"/>
              <a:t>s</a:t>
            </a:r>
            <a:r>
              <a:rPr altLang="en-IN" dirty="0" sz="2000" lang="en-US" err="1"/>
              <a:t>a</a:t>
            </a:r>
            <a:r>
              <a:rPr altLang="en-IN" dirty="0" sz="2000" lang="en-US" err="1"/>
              <a:t> </a:t>
            </a:r>
            <a:r>
              <a:rPr altLang="en-IN" dirty="0" sz="2000" lang="en-US" err="1"/>
              <a:t>s</a:t>
            </a:r>
            <a:r>
              <a:rPr altLang="en-IN" dirty="0" sz="2000" lang="en-US" err="1"/>
              <a:t>w</a:t>
            </a:r>
            <a:r>
              <a:rPr altLang="en-IN" dirty="0" sz="2000" lang="en-US" err="1"/>
              <a:t>a</a:t>
            </a:r>
            <a:r>
              <a:rPr altLang="en-IN" dirty="0" sz="2000" lang="en-US" err="1"/>
              <a:t>m</a:t>
            </a:r>
            <a:r>
              <a:rPr altLang="en-IN" dirty="0" sz="2000" lang="en-US" err="1"/>
              <a:t>y</a:t>
            </a:r>
            <a:r>
              <a:rPr dirty="0" sz="2000" lang="en-IN"/>
              <a:t>     </a:t>
            </a:r>
            <a:r>
              <a:rPr altLang="en-IN" dirty="0" sz="2000" lang="en-US"/>
              <a:t> </a:t>
            </a:r>
            <a:r>
              <a:rPr altLang="en-IN" dirty="0" sz="2000" lang="en-US"/>
              <a:t> </a:t>
            </a:r>
            <a:r>
              <a:rPr altLang="en-IN" dirty="0" sz="2000" lang="en-US"/>
              <a:t> </a:t>
            </a:r>
            <a:r>
              <a:rPr altLang="en-IN" dirty="0" sz="2000" lang="en-US"/>
              <a:t> </a:t>
            </a:r>
            <a:r>
              <a:rPr altLang="en-IN" dirty="0" sz="2000" lang="en-US"/>
              <a:t> </a:t>
            </a:r>
            <a:r>
              <a:rPr altLang="en-IN" dirty="0" sz="2000" lang="en-US"/>
              <a:t> </a:t>
            </a:r>
            <a:r>
              <a:rPr altLang="en-IN" dirty="0" sz="2000" lang="en-US"/>
              <a:t> </a:t>
            </a:r>
            <a:r>
              <a:rPr altLang="en-IN" dirty="0" sz="2000" lang="en-US"/>
              <a:t> </a:t>
            </a:r>
            <a:r>
              <a:rPr altLang="en-IN" dirty="0" sz="2000" lang="en-US"/>
              <a:t> </a:t>
            </a:r>
            <a:r>
              <a:rPr altLang="en-IN" dirty="0" sz="2000" lang="en-US"/>
              <a:t>M.Trilok</a:t>
            </a:r>
            <a:r>
              <a:rPr altLang="en-IN" dirty="0" sz="2000" lang="en-US"/>
              <a:t> </a:t>
            </a:r>
            <a:r>
              <a:rPr altLang="en-IN" dirty="0" sz="2000" lang="en-US"/>
              <a:t>Pavan</a:t>
            </a:r>
            <a:r>
              <a:rPr altLang="en-IN" dirty="0" sz="2000" lang="en-US"/>
              <a:t> </a:t>
            </a:r>
            <a:endParaRPr dirty="0" sz="2000" lang="en-IN"/>
          </a:p>
        </p:txBody>
      </p:sp>
      <p:sp>
        <p:nvSpPr>
          <p:cNvPr id="1048589" name="TextBox 8"/>
          <p:cNvSpPr txBox="1"/>
          <p:nvPr/>
        </p:nvSpPr>
        <p:spPr>
          <a:xfrm>
            <a:off x="3482297" y="3946874"/>
            <a:ext cx="4454012" cy="646331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b="1" dirty="0" lang="en-IN"/>
              <a:t>Under the guidance of:</a:t>
            </a:r>
            <a:br>
              <a:rPr dirty="0" lang="en-IN"/>
            </a:br>
            <a:r>
              <a:rPr b="1" dirty="0" lang="en-IN"/>
              <a:t>Mrs Gayathri Lakshmi </a:t>
            </a:r>
            <a:r>
              <a:rPr b="1" dirty="0" lang="en-IN" err="1"/>
              <a:t>Narasamba</a:t>
            </a:r>
            <a:r>
              <a:rPr b="1" dirty="0" lang="en-IN"/>
              <a:t> </a:t>
            </a:r>
            <a:r>
              <a:rPr b="1" dirty="0" lang="en-IN" err="1"/>
              <a:t>Vonguri</a:t>
            </a:r>
            <a:endParaRPr dirty="0" lang="en-IN"/>
          </a:p>
        </p:txBody>
      </p:sp>
      <p:sp>
        <p:nvSpPr>
          <p:cNvPr id="1048590" name="TextBox 10"/>
          <p:cNvSpPr txBox="1"/>
          <p:nvPr/>
        </p:nvSpPr>
        <p:spPr>
          <a:xfrm>
            <a:off x="2880071" y="5443401"/>
            <a:ext cx="6169742" cy="891540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dirty="0" lang="en-IN"/>
              <a:t>Department of Artificial Intelligence and Machine Learning</a:t>
            </a:r>
            <a:br>
              <a:rPr dirty="0" lang="en-IN"/>
            </a:br>
            <a:r>
              <a:rPr b="1" dirty="0" lang="en-IN"/>
              <a:t>Aditya University</a:t>
            </a:r>
          </a:p>
          <a:p>
            <a:pPr algn="ctr"/>
            <a:r>
              <a:rPr dirty="0" lang="en-IN"/>
              <a:t>Academic Year: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/>
        </p:spPr>
      </p:pic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946355" y="1091382"/>
            <a:ext cx="2239297" cy="806245"/>
          </a:xfrm>
        </p:spPr>
        <p:txBody>
          <a:bodyPr>
            <a:normAutofit/>
          </a:bodyPr>
          <a:p>
            <a:r>
              <a:rPr b="1" dirty="0" sz="4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>
          <a:xfrm>
            <a:off x="946355" y="2237709"/>
            <a:ext cx="10515600" cy="2225265"/>
          </a:xfrm>
        </p:spPr>
        <p:txBody>
          <a:bodyPr>
            <a:normAutofit fontScale="96429" lnSpcReduction="10000"/>
          </a:bodyPr>
          <a:p>
            <a:pPr indent="0" marL="0">
              <a:buNone/>
            </a:pPr>
            <a:r>
              <a:rPr dirty="0" lang="en-IN"/>
              <a:t>The </a:t>
            </a:r>
            <a:r>
              <a:rPr b="1" dirty="0" lang="en-IN"/>
              <a:t>University Academic Management System</a:t>
            </a:r>
            <a:r>
              <a:rPr dirty="0" lang="en-IN"/>
              <a:t> is a DBMS-based project designed to manage university academic information in a structured database. It stores details of </a:t>
            </a:r>
            <a:r>
              <a:rPr b="1" dirty="0" lang="en-IN"/>
              <a:t>students, faculty, departments, courses, </a:t>
            </a:r>
            <a:r>
              <a:rPr b="1" dirty="0" lang="en-IN" err="1"/>
              <a:t>enrollments</a:t>
            </a:r>
            <a:r>
              <a:rPr b="1" dirty="0" lang="en-IN"/>
              <a:t>, and results</a:t>
            </a:r>
            <a:r>
              <a:rPr dirty="0" lang="en-IN"/>
              <a:t>. The system uses </a:t>
            </a:r>
            <a:r>
              <a:rPr b="1" dirty="0" lang="en-IN"/>
              <a:t>Primary Keys and Foreign Keys</a:t>
            </a:r>
            <a:r>
              <a:rPr dirty="0" lang="en-IN"/>
              <a:t> to establish relationships and maintain data consistency.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85522" cy="6858000"/>
          </a:xfrm>
          <a:prstGeom prst="rect"/>
        </p:spPr>
      </p:pic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834961" y="945228"/>
            <a:ext cx="10515600" cy="1325563"/>
          </a:xfrm>
        </p:spPr>
        <p:txBody>
          <a:bodyPr>
            <a:normAutofit/>
          </a:bodyPr>
          <a:p>
            <a:r>
              <a:rPr b="1" dirty="0" sz="4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>
          <a:xfrm>
            <a:off x="838200" y="2415560"/>
            <a:ext cx="10515600" cy="3257652"/>
          </a:xfrm>
        </p:spPr>
        <p:txBody>
          <a:bodyPr/>
          <a:p>
            <a:pPr lvl="0"/>
            <a:r>
              <a:rPr dirty="0" lang="en-IN"/>
              <a:t>To design a </a:t>
            </a:r>
            <a:r>
              <a:rPr b="1" dirty="0" lang="en-IN"/>
              <a:t>structured database</a:t>
            </a:r>
            <a:r>
              <a:rPr dirty="0" lang="en-IN"/>
              <a:t> for university academic information. </a:t>
            </a:r>
          </a:p>
          <a:p>
            <a:pPr lvl="0"/>
            <a:r>
              <a:rPr dirty="0" lang="en-IN"/>
              <a:t>To manage </a:t>
            </a:r>
            <a:r>
              <a:rPr b="1" dirty="0" lang="en-IN"/>
              <a:t>students, faculty, departments, courses, </a:t>
            </a:r>
            <a:r>
              <a:rPr b="1" dirty="0" lang="en-IN" err="1"/>
              <a:t>enrollments</a:t>
            </a:r>
            <a:r>
              <a:rPr b="1" dirty="0" lang="en-IN"/>
              <a:t>, and results</a:t>
            </a:r>
            <a:r>
              <a:rPr dirty="0" lang="en-IN"/>
              <a:t>. </a:t>
            </a:r>
          </a:p>
          <a:p>
            <a:pPr lvl="0"/>
            <a:r>
              <a:rPr dirty="0" lang="en-IN"/>
              <a:t>To establish relationships using </a:t>
            </a:r>
            <a:r>
              <a:rPr b="1" dirty="0" lang="en-IN"/>
              <a:t>Primary Keys and Foreign Keys</a:t>
            </a:r>
            <a:r>
              <a:rPr dirty="0" lang="en-IN"/>
              <a:t>. </a:t>
            </a:r>
          </a:p>
          <a:p>
            <a:pPr lvl="0"/>
            <a:r>
              <a:rPr dirty="0" lang="en-IN"/>
              <a:t>To reduce </a:t>
            </a:r>
            <a:r>
              <a:rPr b="1" dirty="0" lang="en-IN"/>
              <a:t>data redundancy</a:t>
            </a:r>
            <a:r>
              <a:rPr dirty="0" lang="en-IN"/>
              <a:t> and maintain data consistency. </a:t>
            </a:r>
          </a:p>
          <a:p>
            <a:pPr lvl="0"/>
            <a:r>
              <a:rPr dirty="0" lang="en-IN"/>
              <a:t>To enable </a:t>
            </a:r>
            <a:r>
              <a:rPr b="1" dirty="0" lang="en-IN"/>
              <a:t>easy storage and retrieval</a:t>
            </a:r>
            <a:r>
              <a:rPr dirty="0" lang="en-IN"/>
              <a:t> of academic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/>
        </p:spPr>
      </p:pic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b="1" dirty="0" sz="4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907026" y="1914116"/>
            <a:ext cx="10515600" cy="2638220"/>
          </a:xfrm>
        </p:spPr>
        <p:txBody>
          <a:bodyPr/>
          <a:p>
            <a:pPr lvl="0"/>
            <a:r>
              <a:rPr dirty="0" lang="en-IN"/>
              <a:t>Scattered academic records </a:t>
            </a:r>
          </a:p>
          <a:p>
            <a:pPr lvl="0"/>
            <a:r>
              <a:rPr dirty="0" lang="en-IN"/>
              <a:t>Data redundancy </a:t>
            </a:r>
          </a:p>
          <a:p>
            <a:pPr lvl="0"/>
            <a:r>
              <a:rPr dirty="0" lang="en-IN"/>
              <a:t>Difficult data retrieval </a:t>
            </a:r>
          </a:p>
          <a:p>
            <a:pPr lvl="0"/>
            <a:r>
              <a:rPr dirty="0" lang="en-IN"/>
              <a:t>Data inconsistency </a:t>
            </a:r>
          </a:p>
          <a:p>
            <a:pPr lvl="0"/>
            <a:r>
              <a:rPr dirty="0" lang="en-IN"/>
              <a:t>Manual record management</a:t>
            </a:r>
          </a:p>
          <a:p>
            <a:endParaRPr dirty="0"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85522" cy="6858000"/>
          </a:xfrm>
          <a:prstGeom prst="rect"/>
        </p:spPr>
      </p:pic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720213" y="815974"/>
            <a:ext cx="10515600" cy="1325563"/>
          </a:xfrm>
        </p:spPr>
        <p:txBody>
          <a:bodyPr>
            <a:normAutofit/>
          </a:bodyPr>
          <a:p>
            <a:r>
              <a:rPr b="1" dirty="0" sz="4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dirty="0" sz="40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p>
            <a:pPr lvl="0"/>
            <a:r>
              <a:rPr dirty="0" lang="en-IN"/>
              <a:t>Academic records are often maintained using </a:t>
            </a:r>
            <a:r>
              <a:rPr b="1" dirty="0" lang="en-IN"/>
              <a:t>manual or separate systems</a:t>
            </a:r>
            <a:r>
              <a:rPr dirty="0" lang="en-IN"/>
              <a:t>. </a:t>
            </a:r>
          </a:p>
          <a:p>
            <a:pPr lvl="0"/>
            <a:r>
              <a:rPr dirty="0" lang="en-IN"/>
              <a:t>Information may be </a:t>
            </a:r>
            <a:r>
              <a:rPr b="1" dirty="0" lang="en-IN"/>
              <a:t>scattered across different records</a:t>
            </a:r>
            <a:r>
              <a:rPr dirty="0" lang="en-IN"/>
              <a:t>. </a:t>
            </a:r>
          </a:p>
          <a:p>
            <a:pPr lvl="0"/>
            <a:r>
              <a:rPr dirty="0" lang="en-IN"/>
              <a:t>Updating and retrieving records can be </a:t>
            </a:r>
            <a:r>
              <a:rPr b="1" dirty="0" lang="en-IN"/>
              <a:t>time-consuming</a:t>
            </a:r>
            <a:r>
              <a:rPr dirty="0" lang="en-IN"/>
              <a:t>. </a:t>
            </a:r>
          </a:p>
          <a:p>
            <a:pPr lvl="0"/>
            <a:r>
              <a:rPr dirty="0" lang="en-IN"/>
              <a:t>Manual management can lead to </a:t>
            </a:r>
            <a:r>
              <a:rPr b="1" dirty="0" lang="en-IN"/>
              <a:t>data redundancy and errors</a:t>
            </a:r>
            <a:r>
              <a:rPr dirty="0" lang="en-IN"/>
              <a:t>. </a:t>
            </a:r>
          </a:p>
          <a:p>
            <a:pPr lvl="0"/>
            <a:r>
              <a:rPr dirty="0" lang="en-IN"/>
              <a:t>Maintaining relationships between academic records is difficult. </a:t>
            </a:r>
          </a:p>
          <a:p>
            <a:endParaRPr dirty="0"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Picture 6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82475" cy="6858000"/>
          </a:xfrm>
          <a:prstGeom prst="rect"/>
        </p:spPr>
      </p:pic>
      <p:sp>
        <p:nvSpPr>
          <p:cNvPr id="1048607" name="Title 1"/>
          <p:cNvSpPr>
            <a:spLocks noGrp="1"/>
          </p:cNvSpPr>
          <p:nvPr>
            <p:ph type="ctrTitle"/>
          </p:nvPr>
        </p:nvSpPr>
        <p:spPr>
          <a:xfrm>
            <a:off x="11152" y="703993"/>
            <a:ext cx="6820830" cy="911729"/>
          </a:xfrm>
        </p:spPr>
        <p:txBody>
          <a:bodyPr>
            <a:normAutofit/>
          </a:bodyPr>
          <a:p>
            <a:r>
              <a:rPr dirty="0" sz="4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&amp; Foreign Keys</a:t>
            </a:r>
          </a:p>
        </p:txBody>
      </p:sp>
      <p:sp>
        <p:nvSpPr>
          <p:cNvPr id="1048608" name="TextBox 8"/>
          <p:cNvSpPr txBox="1"/>
          <p:nvPr/>
        </p:nvSpPr>
        <p:spPr>
          <a:xfrm>
            <a:off x="374497" y="2007805"/>
            <a:ext cx="6094140" cy="2491740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b="1" dirty="0" lang="en-IN"/>
              <a:t>🔑 Primary Key (PK)</a:t>
            </a:r>
          </a:p>
          <a:p>
            <a:pPr>
              <a:buNone/>
            </a:pPr>
            <a:r>
              <a:rPr dirty="0" lang="en-IN"/>
              <a:t>A </a:t>
            </a:r>
            <a:r>
              <a:rPr b="1" dirty="0" lang="en-IN"/>
              <a:t>Primary Key</a:t>
            </a:r>
            <a:r>
              <a:rPr dirty="0" lang="en-IN"/>
              <a:t> uniquely identifies each record in a table.</a:t>
            </a:r>
          </a:p>
          <a:p>
            <a:pPr>
              <a:buNone/>
            </a:pPr>
            <a:r>
              <a:rPr b="1" dirty="0" lang="en-IN"/>
              <a:t>Examples:</a:t>
            </a:r>
            <a:endParaRPr dirty="0" lang="en-IN"/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lang="en-IN"/>
              <a:t>Department → </a:t>
            </a:r>
            <a:r>
              <a:rPr dirty="0" lang="en-IN" err="1">
                <a:latin typeface="Courier New" panose="02070309020205020404" pitchFamily="49" charset="0"/>
              </a:rPr>
              <a:t>Department_ID</a:t>
            </a:r>
            <a:r>
              <a:rPr dirty="0" lang="en-IN"/>
              <a:t>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lang="en-IN"/>
              <a:t>Student → </a:t>
            </a:r>
            <a:r>
              <a:rPr dirty="0" lang="en-IN" err="1">
                <a:latin typeface="Courier New" panose="02070309020205020404" pitchFamily="49" charset="0"/>
              </a:rPr>
              <a:t>Student_ID</a:t>
            </a:r>
            <a:r>
              <a:rPr dirty="0" lang="en-IN"/>
              <a:t>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lang="en-IN"/>
              <a:t>Faculty → </a:t>
            </a:r>
            <a:r>
              <a:rPr dirty="0" lang="en-IN" err="1">
                <a:latin typeface="Courier New" panose="02070309020205020404" pitchFamily="49" charset="0"/>
              </a:rPr>
              <a:t>Faculty_ID</a:t>
            </a:r>
            <a:r>
              <a:rPr dirty="0" lang="en-IN"/>
              <a:t>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lang="en-IN"/>
              <a:t>Course → </a:t>
            </a:r>
            <a:r>
              <a:rPr dirty="0" lang="en-IN" err="1">
                <a:latin typeface="Courier New" panose="02070309020205020404" pitchFamily="49" charset="0"/>
              </a:rPr>
              <a:t>Course_ID</a:t>
            </a:r>
            <a:r>
              <a:rPr dirty="0" lang="en-IN"/>
              <a:t>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lang="en-IN" err="1"/>
              <a:t>Enrollment</a:t>
            </a:r>
            <a:r>
              <a:rPr dirty="0" lang="en-IN"/>
              <a:t> → </a:t>
            </a:r>
            <a:r>
              <a:rPr dirty="0" lang="en-IN" err="1">
                <a:latin typeface="Courier New" panose="02070309020205020404" pitchFamily="49" charset="0"/>
              </a:rPr>
              <a:t>Enrollment_ID</a:t>
            </a:r>
            <a:r>
              <a:rPr dirty="0" lang="en-IN"/>
              <a:t>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lang="en-IN"/>
              <a:t>Result → </a:t>
            </a:r>
            <a:r>
              <a:rPr dirty="0" lang="en-IN" err="1">
                <a:latin typeface="Courier New" panose="02070309020205020404" pitchFamily="49" charset="0"/>
              </a:rPr>
              <a:t>Result_ID</a:t>
            </a:r>
            <a:endParaRPr dirty="0" lang="en-IN"/>
          </a:p>
        </p:txBody>
      </p:sp>
      <p:sp>
        <p:nvSpPr>
          <p:cNvPr id="1048609" name="TextBox 10"/>
          <p:cNvSpPr txBox="1"/>
          <p:nvPr/>
        </p:nvSpPr>
        <p:spPr>
          <a:xfrm>
            <a:off x="4906537" y="3568684"/>
            <a:ext cx="7136779" cy="2491741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b="1" dirty="0" lang="en-IN"/>
              <a:t>🔗 Foreign Key (FK)</a:t>
            </a:r>
          </a:p>
          <a:p>
            <a:pPr>
              <a:buNone/>
            </a:pPr>
            <a:r>
              <a:rPr dirty="0" lang="en-IN"/>
              <a:t>A </a:t>
            </a:r>
            <a:r>
              <a:rPr b="1" dirty="0" lang="en-IN"/>
              <a:t>Foreign Key</a:t>
            </a:r>
            <a:r>
              <a:rPr dirty="0" lang="en-IN"/>
              <a:t> connects two related tables by referencing the Primary Key of another table.</a:t>
            </a:r>
          </a:p>
          <a:p>
            <a:pPr>
              <a:buNone/>
            </a:pPr>
            <a:r>
              <a:rPr b="1" dirty="0" lang="en-IN"/>
              <a:t>Examples:</a:t>
            </a:r>
            <a:endParaRPr dirty="0" lang="en-IN"/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lang="en-IN" err="1">
                <a:latin typeface="Courier New" panose="02070309020205020404" pitchFamily="49" charset="0"/>
              </a:rPr>
              <a:t>Student.Department_ID</a:t>
            </a:r>
            <a:r>
              <a:rPr dirty="0" lang="en-IN"/>
              <a:t> → </a:t>
            </a:r>
            <a:r>
              <a:rPr dirty="0" lang="en-IN" err="1">
                <a:latin typeface="Courier New" panose="02070309020205020404" pitchFamily="49" charset="0"/>
              </a:rPr>
              <a:t>Department.Department_ID</a:t>
            </a:r>
            <a:endParaRPr dirty="0" lang="en-IN"/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lang="en-IN" err="1">
                <a:latin typeface="Courier New" panose="02070309020205020404" pitchFamily="49" charset="0"/>
              </a:rPr>
              <a:t>Enrollment.Student_ID</a:t>
            </a:r>
            <a:r>
              <a:rPr dirty="0" lang="en-IN"/>
              <a:t> → </a:t>
            </a:r>
            <a:r>
              <a:rPr dirty="0" lang="en-IN" err="1">
                <a:latin typeface="Courier New" panose="02070309020205020404" pitchFamily="49" charset="0"/>
              </a:rPr>
              <a:t>Student.Student_ID</a:t>
            </a:r>
            <a:endParaRPr dirty="0" lang="en-IN"/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lang="en-IN" err="1">
                <a:latin typeface="Courier New" panose="02070309020205020404" pitchFamily="49" charset="0"/>
              </a:rPr>
              <a:t>Enrollment.Course_ID</a:t>
            </a:r>
            <a:r>
              <a:rPr dirty="0" lang="en-IN"/>
              <a:t> → </a:t>
            </a:r>
            <a:r>
              <a:rPr dirty="0" lang="en-IN" err="1">
                <a:latin typeface="Courier New" panose="02070309020205020404" pitchFamily="49" charset="0"/>
              </a:rPr>
              <a:t>Course.Course_ID</a:t>
            </a:r>
            <a:endParaRPr dirty="0" lang="en-IN"/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lang="en-IN" err="1">
                <a:latin typeface="Courier New" panose="02070309020205020404" pitchFamily="49" charset="0"/>
              </a:rPr>
              <a:t>Result.Student_ID</a:t>
            </a:r>
            <a:r>
              <a:rPr dirty="0" lang="en-IN"/>
              <a:t> → </a:t>
            </a:r>
            <a:r>
              <a:rPr dirty="0" lang="en-IN" err="1">
                <a:latin typeface="Courier New" panose="02070309020205020404" pitchFamily="49" charset="0"/>
              </a:rPr>
              <a:t>Student.Student_ID</a:t>
            </a:r>
            <a:endParaRPr dirty="0" lang="en-IN"/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dirty="0" lang="en-IN" err="1">
                <a:latin typeface="Courier New" panose="02070309020205020404" pitchFamily="49" charset="0"/>
              </a:rPr>
              <a:t>Result.Course_ID</a:t>
            </a:r>
            <a:r>
              <a:rPr dirty="0" lang="en-IN"/>
              <a:t> → </a:t>
            </a:r>
            <a:r>
              <a:rPr dirty="0" lang="en-IN" err="1">
                <a:latin typeface="Courier New" panose="02070309020205020404" pitchFamily="49" charset="0"/>
              </a:rPr>
              <a:t>Course.Course_ID</a:t>
            </a:r>
            <a:endParaRPr dirty="0"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82475" cy="6858000"/>
          </a:xfrm>
          <a:prstGeom prst="rect"/>
        </p:spPr>
      </p:pic>
      <p:sp>
        <p:nvSpPr>
          <p:cNvPr id="1048610" name="Title 1"/>
          <p:cNvSpPr>
            <a:spLocks noGrp="1"/>
          </p:cNvSpPr>
          <p:nvPr>
            <p:ph type="ctrTitle"/>
          </p:nvPr>
        </p:nvSpPr>
        <p:spPr>
          <a:xfrm>
            <a:off x="1524000" y="200722"/>
            <a:ext cx="9144000" cy="632948"/>
          </a:xfrm>
        </p:spPr>
        <p:txBody>
          <a:bodyPr>
            <a:normAutofit fontScale="92500"/>
          </a:bodyPr>
          <a:p>
            <a:r>
              <a:rPr dirty="0" sz="4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 Responsibilities</a:t>
            </a:r>
          </a:p>
        </p:txBody>
      </p:sp>
      <p:sp>
        <p:nvSpPr>
          <p:cNvPr id="1048611" name="Subtitle 2"/>
          <p:cNvSpPr>
            <a:spLocks noGrp="1"/>
          </p:cNvSpPr>
          <p:nvPr>
            <p:ph type="subTitle" idx="1"/>
          </p:nvPr>
        </p:nvSpPr>
        <p:spPr>
          <a:xfrm>
            <a:off x="137533" y="1034392"/>
            <a:ext cx="5958467" cy="4978826"/>
          </a:xfrm>
        </p:spPr>
        <p:txBody>
          <a:bodyPr>
            <a:noAutofit/>
          </a:bodyPr>
          <a:p>
            <a:pPr algn="l"/>
            <a:r>
              <a:rPr b="1" dirty="0" sz="2000" lang="en-IN"/>
              <a:t>💻 GitHub Repository</a:t>
            </a:r>
          </a:p>
          <a:p>
            <a:pPr algn="l"/>
            <a:r>
              <a:rPr b="1" dirty="0" sz="2000" lang="en-IN"/>
              <a:t>Repository:</a:t>
            </a:r>
            <a:br>
              <a:rPr dirty="0" sz="2000" lang="en-IN"/>
            </a:br>
            <a:r>
              <a:rPr dirty="0" sz="2000" lang="en-IN"/>
              <a:t>University-Academic-Management-System</a:t>
            </a:r>
          </a:p>
          <a:p>
            <a:pPr algn="l"/>
            <a:r>
              <a:rPr b="1" dirty="0" sz="2000" lang="en-IN"/>
              <a:t>Purpose:</a:t>
            </a:r>
            <a:br>
              <a:rPr dirty="0" sz="2000" lang="en-IN"/>
            </a:br>
            <a:r>
              <a:rPr dirty="0" sz="2000" lang="en-IN"/>
              <a:t>To store and manage the project's </a:t>
            </a:r>
            <a:r>
              <a:rPr b="1" dirty="0" sz="2000" lang="en-IN"/>
              <a:t>database design, documentation, source files, and presentation</a:t>
            </a:r>
            <a:r>
              <a:rPr dirty="0" sz="2000" lang="en-IN"/>
              <a:t> in a centralized repository.</a:t>
            </a:r>
          </a:p>
          <a:p>
            <a:pPr algn="l"/>
            <a:r>
              <a:rPr dirty="0" sz="2000" lang="en-IN"/>
              <a:t>📸 </a:t>
            </a:r>
            <a:r>
              <a:rPr b="1" dirty="0" sz="2000" lang="en-IN"/>
              <a:t>[Place GitHub repository screenshot here]</a:t>
            </a:r>
            <a:endParaRPr dirty="0" sz="2000" lang="en-IN"/>
          </a:p>
          <a:p>
            <a:pPr algn="l"/>
            <a:r>
              <a:rPr b="1" dirty="0" sz="2000" lang="en-IN"/>
              <a:t>👥 Team Responsibilities</a:t>
            </a:r>
          </a:p>
          <a:p>
            <a:pPr algn="l" lvl="0"/>
            <a:r>
              <a:rPr b="1" dirty="0" sz="2000" lang="en-IN"/>
              <a:t>K. Tripura</a:t>
            </a:r>
            <a:r>
              <a:rPr dirty="0" sz="2000" lang="en-IN"/>
              <a:t> → ER Diagram &amp; Database Design </a:t>
            </a:r>
          </a:p>
          <a:p>
            <a:pPr algn="l" lvl="0"/>
            <a:r>
              <a:rPr b="1" dirty="0" sz="2000" lang="en-IN"/>
              <a:t>M. </a:t>
            </a:r>
            <a:r>
              <a:rPr b="1" dirty="0" sz="2000" lang="en-IN" err="1"/>
              <a:t>Bhagaya</a:t>
            </a:r>
            <a:r>
              <a:rPr b="1" dirty="0" sz="2000" lang="en-IN"/>
              <a:t> Satya Sri</a:t>
            </a:r>
            <a:r>
              <a:rPr dirty="0" sz="2000" lang="en-IN"/>
              <a:t> → Relational Schema &amp; SQL </a:t>
            </a:r>
          </a:p>
          <a:p>
            <a:pPr algn="l" lvl="0"/>
            <a:r>
              <a:rPr b="1" dirty="0" sz="2000" lang="en-IN"/>
              <a:t>P. Surya Varshitha</a:t>
            </a:r>
            <a:r>
              <a:rPr dirty="0" sz="2000" lang="en-IN"/>
              <a:t> → Documentation &amp; PPT </a:t>
            </a:r>
          </a:p>
          <a:p>
            <a:pPr algn="l" lvl="0"/>
            <a:r>
              <a:rPr b="1" dirty="0" sz="2000" lang="en-IN"/>
              <a:t>M. Veeresh</a:t>
            </a:r>
            <a:r>
              <a:rPr dirty="0" sz="2000" lang="en-IN"/>
              <a:t> → GitHub Repository &amp; Project Integration</a:t>
            </a:r>
          </a:p>
          <a:p>
            <a:pPr algn="l"/>
            <a:endParaRPr dirty="0" sz="2000" lang="en-IN"/>
          </a:p>
          <a:p>
            <a:pPr algn="l"/>
            <a:endParaRPr dirty="0" sz="2000"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p.surya varshitha varshitha</dc:creator>
  <cp:lastModifiedBy>p.surya varshitha varshitha</cp:lastModifiedBy>
  <dcterms:created xsi:type="dcterms:W3CDTF">2026-08-13T04:27:31Z</dcterms:created>
  <dcterms:modified xsi:type="dcterms:W3CDTF">2026-10-16T01:22:26Z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61ef25e33c52452cba19a46e6324e591_23</vt:lpwstr>
  </property>
</Properties>
</file>